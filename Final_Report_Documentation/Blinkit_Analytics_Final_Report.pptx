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-499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D2368C-6F2D-42CB-BF1F-F1C71C806B20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4B4836-31CA-4C7B-94B9-E19738833C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9572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05156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880360"/>
            <a:ext cx="1216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8C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BLINKIT ANALYTICS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0" y="361188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Power BI Business Intelligence Project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532120" y="4206240"/>
            <a:ext cx="1097280" cy="18288"/>
          </a:xfrm>
          <a:prstGeom prst="rect">
            <a:avLst/>
          </a:prstGeom>
          <a:solidFill>
            <a:srgbClr val="54B226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443484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Sriram  |  </a:t>
            </a:r>
            <a:r>
              <a:rPr lang="en-US" sz="1300" dirty="0" smtClean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</a:t>
            </a: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626364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Unofficial </a:t>
            </a:r>
            <a:r>
              <a:rPr lang="en-US" sz="900" i="1" dirty="0" smtClean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</a:t>
            </a: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— not affiliated with </a:t>
            </a:r>
            <a:r>
              <a:rPr lang="en-US" sz="900" i="1" dirty="0" smtClean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</a:t>
            </a: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Pvt. Ltd.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457200"/>
          </a:xfrm>
          <a:prstGeom prst="ellipse">
            <a:avLst/>
          </a:prstGeom>
          <a:solidFill>
            <a:srgbClr val="F8CB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411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4B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56692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full quick-commerce analytics suite for Blinkit covering sales, customers, products, delivery, marketing, and customer feedback.</a:t>
            </a:r>
            <a:endParaRPr lang="en-US" sz="135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a career pivot from healthcare/finance into a demonstrable, business-facing data analytics portfolio piece.</a:t>
            </a:r>
            <a:endParaRPr lang="en-US" sz="135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decision-ready Power BI report a real operations or growth team could act on daily.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0" y="14173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5F5F5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52704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92240" y="22677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Datasets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189720" y="14173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5F5F5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89720" y="152704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9281160" y="22677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Analyzed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0" y="28346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5F5F5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294436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2,500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92240" y="36850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89720" y="28346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5F5F5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89720" y="294436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268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281160" y="36850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Cataloged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0" y="42519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5F5F5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0" y="436168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492240" y="51023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189720" y="42519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5F5F5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89720" y="436168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5,400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281160" y="51023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Records</a:t>
            </a:r>
            <a:endParaRPr lang="en-US" sz="1050" dirty="0"/>
          </a:p>
        </p:txBody>
      </p:sp>
      <p:pic>
        <p:nvPicPr>
          <p:cNvPr id="25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55080"/>
            <a:ext cx="292608" cy="29260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3152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Analytics  |  Unofficial Portfolio Project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33856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457200"/>
          </a:xfrm>
          <a:prstGeom prst="ellipse">
            <a:avLst/>
          </a:prstGeom>
          <a:solidFill>
            <a:srgbClr val="F8CB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411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34208"/>
            <a:ext cx="5532120" cy="1600200"/>
          </a:xfrm>
          <a:prstGeom prst="roundRect">
            <a:avLst>
              <a:gd name="adj" fmla="val 3429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54B22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508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Data Collection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34440" y="1901952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source tables: customers, orders, order items, products, marketing, feedback.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1134208"/>
            <a:ext cx="5532120" cy="1600200"/>
          </a:xfrm>
          <a:prstGeom prst="roundRect">
            <a:avLst>
              <a:gd name="adj" fmla="val 3429"/>
            </a:avLst>
          </a:prstGeom>
          <a:solidFill>
            <a:srgbClr val="F5F5F5"/>
          </a:solidFill>
          <a:ln/>
        </p:spPr>
      </p:sp>
      <p:sp>
        <p:nvSpPr>
          <p:cNvPr id="11" name="Shape 9"/>
          <p:cNvSpPr/>
          <p:nvPr/>
        </p:nvSpPr>
        <p:spPr>
          <a:xfrm>
            <a:off x="6355080" y="1554480"/>
            <a:ext cx="457200" cy="457200"/>
          </a:xfrm>
          <a:prstGeom prst="ellipse">
            <a:avLst/>
          </a:prstGeom>
          <a:solidFill>
            <a:srgbClr val="54B226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49440" y="1508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&amp; Feature Engineering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949440" y="1901952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delay flags, order-size tiers, discount %, CLV, sentiment fields engineered in </a:t>
            </a:r>
            <a:r>
              <a:rPr lang="en-US" sz="1100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62072"/>
            <a:ext cx="5532120" cy="1600200"/>
          </a:xfrm>
          <a:prstGeom prst="roundRect">
            <a:avLst>
              <a:gd name="adj" fmla="val 3429"/>
            </a:avLst>
          </a:prstGeom>
          <a:solidFill>
            <a:srgbClr val="F5F5F5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rgbClr val="54B22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Data Modeling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234440" y="3685032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Star-schema relationships: orders &amp; order_items as fact tables linked to customers, products, marketing, feedback.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2884932"/>
            <a:ext cx="5532120" cy="1600200"/>
          </a:xfrm>
          <a:prstGeom prst="roundRect">
            <a:avLst>
              <a:gd name="adj" fmla="val 3429"/>
            </a:avLst>
          </a:prstGeom>
          <a:solidFill>
            <a:srgbClr val="F5F5F5"/>
          </a:solidFill>
          <a:ln/>
        </p:spPr>
      </p:sp>
      <p:sp>
        <p:nvSpPr>
          <p:cNvPr id="21" name="Shape 19"/>
          <p:cNvSpPr/>
          <p:nvPr/>
        </p:nvSpPr>
        <p:spPr>
          <a:xfrm>
            <a:off x="6355080" y="3337560"/>
            <a:ext cx="457200" cy="457200"/>
          </a:xfrm>
          <a:prstGeom prst="ellipse">
            <a:avLst/>
          </a:prstGeom>
          <a:solidFill>
            <a:srgbClr val="54B226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4944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 Measures Layer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949440" y="3685032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measures_table driving every KPI card and chart — no ad-hoc column aggregation.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645152"/>
            <a:ext cx="5532120" cy="1600200"/>
          </a:xfrm>
          <a:prstGeom prst="roundRect">
            <a:avLst>
              <a:gd name="adj" fmla="val 3429"/>
            </a:avLst>
          </a:prstGeom>
          <a:solidFill>
            <a:srgbClr val="F5F5F5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5120640"/>
            <a:ext cx="457200" cy="457200"/>
          </a:xfrm>
          <a:prstGeom prst="ellipse">
            <a:avLst/>
          </a:prstGeom>
          <a:solidFill>
            <a:srgbClr val="54B226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34440" y="5074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Design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234440" y="5468112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purpose-built pages, iteratively reviewed and refined page by page.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72200" y="4645152"/>
            <a:ext cx="5532120" cy="1600200"/>
          </a:xfrm>
          <a:prstGeom prst="roundRect">
            <a:avLst>
              <a:gd name="adj" fmla="val 3429"/>
            </a:avLst>
          </a:prstGeom>
          <a:solidFill>
            <a:srgbClr val="F5F5F5"/>
          </a:solidFill>
          <a:ln/>
        </p:spPr>
      </p:sp>
      <p:sp>
        <p:nvSpPr>
          <p:cNvPr id="31" name="Shape 29"/>
          <p:cNvSpPr/>
          <p:nvPr/>
        </p:nvSpPr>
        <p:spPr>
          <a:xfrm>
            <a:off x="6355080" y="5120640"/>
            <a:ext cx="457200" cy="457200"/>
          </a:xfrm>
          <a:prstGeom prst="ellipse">
            <a:avLst/>
          </a:prstGeom>
          <a:solidFill>
            <a:srgbClr val="54B226"/>
          </a:solidFill>
          <a:ln/>
        </p:spPr>
      </p:sp>
      <p:sp>
        <p:nvSpPr>
          <p:cNvPr id="32" name="Text 30"/>
          <p:cNvSpPr/>
          <p:nvPr/>
        </p:nvSpPr>
        <p:spPr>
          <a:xfrm>
            <a:off x="635508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49440" y="5074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Theming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949440" y="5468112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Blinkit-aligned color theme, typography, and logo integration across the report.</a:t>
            </a:r>
            <a:endParaRPr lang="en-US" sz="1100" dirty="0"/>
          </a:p>
        </p:txBody>
      </p:sp>
      <p:pic>
        <p:nvPicPr>
          <p:cNvPr id="35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55080"/>
            <a:ext cx="292608" cy="292608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73152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Analytics  |  Unofficial Portfolio Project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33856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457200"/>
          </a:xfrm>
          <a:prstGeom prst="ellipse">
            <a:avLst/>
          </a:prstGeom>
          <a:solidFill>
            <a:srgbClr val="F8CB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411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Architecture — 6 Pages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685032" cy="1737360"/>
          </a:xfrm>
          <a:prstGeom prst="roundRect">
            <a:avLst>
              <a:gd name="adj" fmla="val 3158"/>
            </a:avLst>
          </a:prstGeom>
          <a:solidFill>
            <a:srgbClr val="1F1F1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17320"/>
            <a:ext cx="3685032" cy="73152"/>
          </a:xfrm>
          <a:prstGeom prst="rect">
            <a:avLst/>
          </a:prstGeom>
          <a:solidFill>
            <a:srgbClr val="F8CB4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C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319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3319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orders, on-time delivery, and satisfaction at a glance.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79392" y="1417320"/>
            <a:ext cx="3685032" cy="1737360"/>
          </a:xfrm>
          <a:prstGeom prst="roundRect">
            <a:avLst>
              <a:gd name="adj" fmla="val 3158"/>
            </a:avLst>
          </a:prstGeom>
          <a:solidFill>
            <a:srgbClr val="1F1F1F"/>
          </a:solidFill>
          <a:ln/>
        </p:spPr>
      </p:sp>
      <p:sp>
        <p:nvSpPr>
          <p:cNvPr id="11" name="Shape 9"/>
          <p:cNvSpPr/>
          <p:nvPr/>
        </p:nvSpPr>
        <p:spPr>
          <a:xfrm>
            <a:off x="4279392" y="1417320"/>
            <a:ext cx="3685032" cy="73152"/>
          </a:xfrm>
          <a:prstGeom prst="rect">
            <a:avLst/>
          </a:prstGeom>
          <a:solidFill>
            <a:srgbClr val="F8CB45"/>
          </a:solidFill>
          <a:ln/>
        </p:spPr>
      </p:sp>
      <p:sp>
        <p:nvSpPr>
          <p:cNvPr id="12" name="Text 10"/>
          <p:cNvSpPr/>
          <p:nvPr/>
        </p:nvSpPr>
        <p:spPr>
          <a:xfrm>
            <a:off x="4462272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C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462272" y="2011680"/>
            <a:ext cx="3319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62272" y="2377440"/>
            <a:ext cx="3319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revenue, payment mix, </a:t>
            </a:r>
            <a:r>
              <a:rPr lang="en-US" sz="1100" dirty="0" smtClean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delivery-status </a:t>
            </a:r>
            <a:r>
              <a:rPr lang="en-US" sz="11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distribution, top products.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01584" y="1417320"/>
            <a:ext cx="3685032" cy="1737360"/>
          </a:xfrm>
          <a:prstGeom prst="roundRect">
            <a:avLst>
              <a:gd name="adj" fmla="val 3158"/>
            </a:avLst>
          </a:prstGeom>
          <a:solidFill>
            <a:srgbClr val="1F1F1F"/>
          </a:solidFill>
          <a:ln/>
        </p:spPr>
      </p:sp>
      <p:sp>
        <p:nvSpPr>
          <p:cNvPr id="16" name="Shape 14"/>
          <p:cNvSpPr/>
          <p:nvPr/>
        </p:nvSpPr>
        <p:spPr>
          <a:xfrm>
            <a:off x="8101584" y="1417320"/>
            <a:ext cx="3685032" cy="73152"/>
          </a:xfrm>
          <a:prstGeom prst="rect">
            <a:avLst/>
          </a:prstGeom>
          <a:solidFill>
            <a:srgbClr val="F8CB45"/>
          </a:solidFill>
          <a:ln/>
        </p:spPr>
      </p:sp>
      <p:sp>
        <p:nvSpPr>
          <p:cNvPr id="17" name="Text 15"/>
          <p:cNvSpPr/>
          <p:nvPr/>
        </p:nvSpPr>
        <p:spPr>
          <a:xfrm>
            <a:off x="8284464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C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84464" y="2011680"/>
            <a:ext cx="3319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84464" y="2377440"/>
            <a:ext cx="3319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Segments, CLV, VIP share, and delivery's effect on satisfaction.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337560"/>
            <a:ext cx="3685032" cy="1737360"/>
          </a:xfrm>
          <a:prstGeom prst="roundRect">
            <a:avLst>
              <a:gd name="adj" fmla="val 3158"/>
            </a:avLst>
          </a:prstGeom>
          <a:solidFill>
            <a:srgbClr val="1F1F1F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337560"/>
            <a:ext cx="3685032" cy="73152"/>
          </a:xfrm>
          <a:prstGeom prst="rect">
            <a:avLst/>
          </a:prstGeom>
          <a:solidFill>
            <a:srgbClr val="F8CB45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566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C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" y="3931920"/>
            <a:ext cx="3319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" y="4297680"/>
            <a:ext cx="3319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brand performance, </a:t>
            </a:r>
            <a:r>
              <a:rPr lang="en-US" sz="1100" dirty="0" smtClean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</a:t>
            </a:r>
            <a:r>
              <a:rPr lang="en-US" sz="11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revenue, </a:t>
            </a:r>
            <a:r>
              <a:rPr lang="en-US" sz="1100" dirty="0" smtClean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Category.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79392" y="3337560"/>
            <a:ext cx="3685032" cy="1737360"/>
          </a:xfrm>
          <a:prstGeom prst="roundRect">
            <a:avLst>
              <a:gd name="adj" fmla="val 3158"/>
            </a:avLst>
          </a:prstGeom>
          <a:solidFill>
            <a:srgbClr val="1F1F1F"/>
          </a:solidFill>
          <a:ln/>
        </p:spPr>
      </p:sp>
      <p:sp>
        <p:nvSpPr>
          <p:cNvPr id="26" name="Shape 24"/>
          <p:cNvSpPr/>
          <p:nvPr/>
        </p:nvSpPr>
        <p:spPr>
          <a:xfrm>
            <a:off x="4279392" y="3337560"/>
            <a:ext cx="3685032" cy="73152"/>
          </a:xfrm>
          <a:prstGeom prst="rect">
            <a:avLst/>
          </a:prstGeom>
          <a:solidFill>
            <a:srgbClr val="F8CB45"/>
          </a:solidFill>
          <a:ln/>
        </p:spPr>
      </p:sp>
      <p:sp>
        <p:nvSpPr>
          <p:cNvPr id="27" name="Text 25"/>
          <p:cNvSpPr/>
          <p:nvPr/>
        </p:nvSpPr>
        <p:spPr>
          <a:xfrm>
            <a:off x="4462272" y="3566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C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462272" y="3931920"/>
            <a:ext cx="3319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Analytics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462272" y="4297680"/>
            <a:ext cx="3319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ROAS, channel efficiency, spend vs. </a:t>
            </a:r>
            <a:r>
              <a:rPr lang="en-US" sz="1100" dirty="0" smtClean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CTR vs. Conversion rate.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01584" y="3337560"/>
            <a:ext cx="3685032" cy="1737360"/>
          </a:xfrm>
          <a:prstGeom prst="roundRect">
            <a:avLst>
              <a:gd name="adj" fmla="val 3158"/>
            </a:avLst>
          </a:prstGeom>
          <a:solidFill>
            <a:srgbClr val="1F1F1F"/>
          </a:solidFill>
          <a:ln/>
        </p:spPr>
      </p:sp>
      <p:sp>
        <p:nvSpPr>
          <p:cNvPr id="31" name="Shape 29"/>
          <p:cNvSpPr/>
          <p:nvPr/>
        </p:nvSpPr>
        <p:spPr>
          <a:xfrm>
            <a:off x="8101584" y="3337560"/>
            <a:ext cx="3685032" cy="73152"/>
          </a:xfrm>
          <a:prstGeom prst="rect">
            <a:avLst/>
          </a:prstGeom>
          <a:solidFill>
            <a:srgbClr val="F8CB45"/>
          </a:solidFill>
          <a:ln/>
        </p:spPr>
      </p:sp>
      <p:sp>
        <p:nvSpPr>
          <p:cNvPr id="32" name="Text 30"/>
          <p:cNvSpPr/>
          <p:nvPr/>
        </p:nvSpPr>
        <p:spPr>
          <a:xfrm>
            <a:off x="8284464" y="3566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C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284464" y="3931920"/>
            <a:ext cx="3319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Analytics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284464" y="4297680"/>
            <a:ext cx="3319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Sentiment, rating trends, and category-level complaint drivers.</a:t>
            </a:r>
            <a:endParaRPr lang="en-US" sz="1100" dirty="0"/>
          </a:p>
        </p:txBody>
      </p:sp>
      <p:pic>
        <p:nvPicPr>
          <p:cNvPr id="35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55080"/>
            <a:ext cx="292608" cy="292608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73152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Analytics  |  Unofficial Portfolio Project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33856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457200"/>
          </a:xfrm>
          <a:prstGeom prst="ellipse">
            <a:avLst/>
          </a:prstGeom>
          <a:solidFill>
            <a:srgbClr val="F8CB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411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Dashboard — Key Insights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148840" cy="1188720"/>
          </a:xfrm>
          <a:prstGeom prst="roundRect">
            <a:avLst>
              <a:gd name="adj" fmla="val 6154"/>
            </a:avLst>
          </a:prstGeom>
          <a:solidFill>
            <a:srgbClr val="F5F5F5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8132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</a:t>
            </a:r>
            <a:r>
              <a:rPr lang="en-US" sz="2600" b="1" dirty="0" smtClean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4.97M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1762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0" y="1371600"/>
            <a:ext cx="2148840" cy="1188720"/>
          </a:xfrm>
          <a:prstGeom prst="roundRect">
            <a:avLst>
              <a:gd name="adj" fmla="val 6154"/>
            </a:avLst>
          </a:prstGeom>
          <a:solidFill>
            <a:srgbClr val="F5F5F5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0" y="148132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834640" y="21762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0" y="1371600"/>
            <a:ext cx="2148840" cy="1188720"/>
          </a:xfrm>
          <a:prstGeom prst="roundRect">
            <a:avLst>
              <a:gd name="adj" fmla="val 6154"/>
            </a:avLst>
          </a:prstGeom>
          <a:solidFill>
            <a:srgbClr val="F5F5F5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148132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 smtClean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₹994.48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120640" y="21762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0" y="1371600"/>
            <a:ext cx="2148840" cy="1188720"/>
          </a:xfrm>
          <a:prstGeom prst="roundRect">
            <a:avLst>
              <a:gd name="adj" fmla="val 6154"/>
            </a:avLst>
          </a:prstGeom>
          <a:solidFill>
            <a:srgbClr val="F5F5F5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0" y="148132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4B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69.4%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406640" y="21762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601200" y="1371600"/>
            <a:ext cx="2148840" cy="1188720"/>
          </a:xfrm>
          <a:prstGeom prst="roundRect">
            <a:avLst>
              <a:gd name="adj" fmla="val 6154"/>
            </a:avLst>
          </a:prstGeom>
          <a:solidFill>
            <a:srgbClr val="F5F5F5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01200" y="148132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3.34 / 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692640" y="21762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Rating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2880360"/>
            <a:ext cx="11247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orders generated ₹49.7 lakh in item-level revenue at an average order value of </a:t>
            </a:r>
            <a:r>
              <a:rPr lang="en-US" sz="1350" dirty="0" smtClean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₹994.48 </a:t>
            </a: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healthy basket size for a quick-commerce platform.</a:t>
            </a:r>
            <a:endParaRPr lang="en-US" sz="135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 sits at 69.4%, meaning roughly 3 in 10 orders arrive later than promised — the single biggest operational lever for the business.</a:t>
            </a:r>
            <a:endParaRPr lang="en-US" sz="135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customer rating of 3.34/5 signals moderate satisfaction with clear room to improve — explored further on the Feedback and Customer pages.</a:t>
            </a:r>
            <a:endParaRPr lang="en-US" sz="1350" dirty="0"/>
          </a:p>
        </p:txBody>
      </p:sp>
      <p:pic>
        <p:nvPicPr>
          <p:cNvPr id="21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55080"/>
            <a:ext cx="292608" cy="29260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3152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Analytics  |  Unofficial Portfolio Project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33856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457200"/>
          </a:xfrm>
          <a:prstGeom prst="ellipse">
            <a:avLst/>
          </a:prstGeom>
          <a:solidFill>
            <a:srgbClr val="F8CB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411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Dashboard — Key Insights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611880" cy="1188720"/>
          </a:xfrm>
          <a:prstGeom prst="roundRect">
            <a:avLst>
              <a:gd name="adj" fmla="val 6154"/>
            </a:avLst>
          </a:prstGeom>
          <a:solidFill>
            <a:srgbClr val="F5F5F5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81328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</a:rPr>
              <a:t>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1762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Items per Order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51960" y="1371600"/>
            <a:ext cx="3611880" cy="1188720"/>
          </a:xfrm>
          <a:prstGeom prst="roundRect">
            <a:avLst>
              <a:gd name="adj" fmla="val 6154"/>
            </a:avLst>
          </a:prstGeom>
          <a:solidFill>
            <a:srgbClr val="F5F5F5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51960" y="1481328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30.6%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343400" y="21762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Delayed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46720" y="1371600"/>
            <a:ext cx="3611880" cy="1188720"/>
          </a:xfrm>
          <a:prstGeom prst="roundRect">
            <a:avLst>
              <a:gd name="adj" fmla="val 6154"/>
            </a:avLst>
          </a:prstGeom>
          <a:solidFill>
            <a:srgbClr val="F5F5F5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0" y="1481328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 smtClean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25.7%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138160" y="21762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via Card (top method)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880360"/>
            <a:ext cx="11247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mix is nearly even (Card </a:t>
            </a:r>
            <a:r>
              <a:rPr lang="en-US" sz="1350" dirty="0" smtClean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25.7%, </a:t>
            </a: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</a:t>
            </a:r>
            <a:r>
              <a:rPr lang="en-US" sz="1350" dirty="0" smtClean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25.14%, </a:t>
            </a: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</a:t>
            </a:r>
            <a:r>
              <a:rPr lang="en-US" sz="1350" dirty="0" smtClean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24.88%, </a:t>
            </a: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</a:t>
            </a:r>
            <a:r>
              <a:rPr lang="en-US" sz="1350" dirty="0" smtClean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24.28%) </a:t>
            </a: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single method dominates, so all payment rails deserve equal reliability investment.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 smtClean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Items per Order is observed approximately as 2 resulting 10,000+ quantities of orders placed.</a:t>
            </a: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50" dirty="0" smtClean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30.6</a:t>
            </a: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orders were delayed in some form (Slightly + Significantly Delayed combined) — consistent with the 69.4% on-time figure from the Executive page.</a:t>
            </a:r>
            <a:endParaRPr lang="en-US" sz="1350" dirty="0"/>
          </a:p>
        </p:txBody>
      </p:sp>
      <p:pic>
        <p:nvPicPr>
          <p:cNvPr id="15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55080"/>
            <a:ext cx="292608" cy="29260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3152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Analytics  |  Unofficial Portfolio Project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3856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457200"/>
          </a:xfrm>
          <a:prstGeom prst="ellipse">
            <a:avLst/>
          </a:prstGeom>
          <a:solidFill>
            <a:srgbClr val="F8CB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411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Dashboard — Key Insights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611880" cy="1188720"/>
          </a:xfrm>
          <a:prstGeom prst="roundRect">
            <a:avLst>
              <a:gd name="adj" fmla="val 6154"/>
            </a:avLst>
          </a:prstGeom>
          <a:solidFill>
            <a:srgbClr val="F5F5F5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81328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49.2%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1762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are VIP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51960" y="1371600"/>
            <a:ext cx="3611880" cy="1188720"/>
          </a:xfrm>
          <a:prstGeom prst="roundRect">
            <a:avLst>
              <a:gd name="adj" fmla="val 6154"/>
            </a:avLst>
          </a:prstGeom>
          <a:solidFill>
            <a:srgbClr val="F5F5F5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51960" y="1481328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₹11,611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343400" y="21762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Customer LTV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46720" y="1371600"/>
            <a:ext cx="3611880" cy="1188720"/>
          </a:xfrm>
          <a:prstGeom prst="roundRect">
            <a:avLst>
              <a:gd name="adj" fmla="val 6154"/>
            </a:avLst>
          </a:prstGeom>
          <a:solidFill>
            <a:srgbClr val="F5F5F5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0" y="1481328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</a:t>
            </a:r>
            <a:r>
              <a:rPr lang="en-US" sz="2600" b="1" dirty="0" smtClean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1.36M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138160" y="21762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Segment Revenue (Regular)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880360"/>
            <a:ext cx="11247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base is evenly split across segments (Regular 25.6%, Premium 25.3%, New 25.1%, Inactive 24.0%) — a well-balanced funnel with no single group underweighted.</a:t>
            </a:r>
            <a:endParaRPr lang="en-US" sz="135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Regular segment contributes the highest revenue (₹</a:t>
            </a:r>
            <a:r>
              <a:rPr lang="en-US" sz="1350" dirty="0" smtClean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1.36M) </a:t>
            </a: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not being the largest by count — repeat, everyday customers outweigh premium spenders in total value.</a:t>
            </a:r>
            <a:endParaRPr lang="en-US" sz="135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clearest finding: average rating is nearly identical across On-Time (3.33), Slightly Delayed (3.39), and Significantly Delayed (3.33) orders — delivery lateness alone does not appear to be driving dissatisfaction in this dataset.</a:t>
            </a:r>
            <a:endParaRPr lang="en-US" sz="1350" dirty="0"/>
          </a:p>
        </p:txBody>
      </p:sp>
      <p:pic>
        <p:nvPicPr>
          <p:cNvPr id="15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55080"/>
            <a:ext cx="292608" cy="29260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3152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Analytics  |  Unofficial Portfolio Project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3856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457200"/>
          </a:xfrm>
          <a:prstGeom prst="ellipse">
            <a:avLst/>
          </a:prstGeom>
          <a:solidFill>
            <a:srgbClr val="F8CB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411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Dashboard — Key Insights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611880" cy="1188720"/>
          </a:xfrm>
          <a:prstGeom prst="roundRect">
            <a:avLst>
              <a:gd name="adj" fmla="val 6154"/>
            </a:avLst>
          </a:prstGeom>
          <a:solidFill>
            <a:srgbClr val="F5F5F5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81328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Dairy &amp; Breakfast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1762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Revenue Category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51960" y="1371600"/>
            <a:ext cx="3611880" cy="1188720"/>
          </a:xfrm>
          <a:prstGeom prst="roundRect">
            <a:avLst>
              <a:gd name="adj" fmla="val 6154"/>
            </a:avLst>
          </a:prstGeom>
          <a:solidFill>
            <a:srgbClr val="F5F5F5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51960" y="1481328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 smtClean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27.78%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343400" y="21762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</a:t>
            </a:r>
            <a:r>
              <a:rPr lang="en-US" sz="1050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Percentage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46720" y="1371600"/>
            <a:ext cx="3611880" cy="1188720"/>
          </a:xfrm>
          <a:prstGeom prst="roundRect">
            <a:avLst>
              <a:gd name="adj" fmla="val 6154"/>
            </a:avLst>
          </a:prstGeom>
          <a:solidFill>
            <a:srgbClr val="F5F5F5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0" y="1481328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Vitamins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138160" y="21762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Revenue Product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880360"/>
            <a:ext cx="11247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&amp; Breakfast (₹6.39L), Pharmacy (₹5.92L), and Fruits &amp; Vegetables (₹5.59L) are the top three revenue categories — everyday essentials and health items outperform discretionary categories.</a:t>
            </a:r>
            <a:endParaRPr lang="en-US" sz="135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individual product level, Vitamins, Pet Treats, and Cough Syrup lead revenue — a signal that health and wellness SKUs punch above their category weight.</a:t>
            </a:r>
            <a:endParaRPr lang="en-US" sz="135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50" dirty="0" smtClean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discount percent across the catalog is 27.78%; pairing this with the discount-</a:t>
            </a:r>
            <a:r>
              <a:rPr lang="en-US" sz="1350" dirty="0" err="1" smtClean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r>
              <a:rPr lang="en-US" sz="1350" dirty="0" smtClean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-revenue scatter chart highlights which high-revenue products are sold due to discount.</a:t>
            </a:r>
            <a:endParaRPr lang="en-US" sz="1350" dirty="0"/>
          </a:p>
        </p:txBody>
      </p:sp>
      <p:pic>
        <p:nvPicPr>
          <p:cNvPr id="15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55080"/>
            <a:ext cx="292608" cy="29260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3152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Analytics  |  Unofficial Portfolio Project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3856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457200"/>
          </a:xfrm>
          <a:prstGeom prst="ellipse">
            <a:avLst/>
          </a:prstGeom>
          <a:solidFill>
            <a:srgbClr val="F8CB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411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Analytics — Key Insights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611880" cy="1188720"/>
          </a:xfrm>
          <a:prstGeom prst="roundRect">
            <a:avLst>
              <a:gd name="adj" fmla="val 6154"/>
            </a:avLst>
          </a:prstGeom>
          <a:solidFill>
            <a:srgbClr val="F5F5F5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81328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4B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1.97x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1762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ROAS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51960" y="1371600"/>
            <a:ext cx="3611880" cy="1188720"/>
          </a:xfrm>
          <a:prstGeom prst="roundRect">
            <a:avLst>
              <a:gd name="adj" fmla="val 6154"/>
            </a:avLst>
          </a:prstGeom>
          <a:solidFill>
            <a:srgbClr val="F5F5F5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51960" y="1481328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4B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</a:t>
            </a:r>
            <a:r>
              <a:rPr lang="en-US" sz="2600" b="1" dirty="0" smtClean="0">
                <a:solidFill>
                  <a:srgbClr val="54B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16.32M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343400" y="21762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46720" y="1371600"/>
            <a:ext cx="3611880" cy="1188720"/>
          </a:xfrm>
          <a:prstGeom prst="roundRect">
            <a:avLst>
              <a:gd name="adj" fmla="val 6154"/>
            </a:avLst>
          </a:prstGeom>
          <a:solidFill>
            <a:srgbClr val="F5F5F5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0" y="1481328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4B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</a:t>
            </a:r>
            <a:r>
              <a:rPr lang="en-US" sz="2600" b="1" dirty="0" smtClean="0">
                <a:solidFill>
                  <a:srgbClr val="54B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15.87M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138160" y="21762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Campaign Profit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880360"/>
            <a:ext cx="11247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</a:t>
            </a:r>
            <a:r>
              <a:rPr lang="en-US" sz="1350" dirty="0" smtClean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16.32 Million in </a:t>
            </a: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spend generated ₹</a:t>
            </a:r>
            <a:r>
              <a:rPr lang="en-US" sz="1350" dirty="0" smtClean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32.19 Million in </a:t>
            </a: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attributed revenue — an overall ROAS of 1.97x, meaning every marketing rupee returns just under ₹2.</a:t>
            </a:r>
            <a:endParaRPr lang="en-US" sz="135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leads channel efficiency at </a:t>
            </a:r>
            <a:r>
              <a:rPr lang="en-US" sz="1350" dirty="0" smtClean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2.05x </a:t>
            </a: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ROAS, narrowly ahead of SMS </a:t>
            </a:r>
            <a:r>
              <a:rPr lang="en-US" sz="1350" dirty="0" smtClean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(1.99x</a:t>
            </a: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Social Media </a:t>
            </a:r>
            <a:r>
              <a:rPr lang="en-US" sz="1350" dirty="0" smtClean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(1.94x</a:t>
            </a: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and App </a:t>
            </a:r>
            <a:r>
              <a:rPr lang="en-US" sz="1350" dirty="0" smtClean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(1.92x</a:t>
            </a: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— the spread is tight, so budget reallocation gains will be incremental, not transformational.</a:t>
            </a:r>
            <a:endParaRPr lang="en-US" sz="135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</a:t>
            </a:r>
            <a:r>
              <a:rPr lang="en-US" sz="1350" dirty="0" smtClean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15.87 Million in </a:t>
            </a: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campaign profit confirms marketing is a net-positive investment across the period analyzed.</a:t>
            </a:r>
            <a:endParaRPr lang="en-US" sz="1350" dirty="0"/>
          </a:p>
        </p:txBody>
      </p:sp>
      <p:pic>
        <p:nvPicPr>
          <p:cNvPr id="15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55080"/>
            <a:ext cx="292608" cy="29260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3152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Analytics  |  Unofficial Portfolio Project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3856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457200"/>
          </a:xfrm>
          <a:prstGeom prst="ellipse">
            <a:avLst/>
          </a:prstGeom>
          <a:solidFill>
            <a:srgbClr val="F8CB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411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Analytics — Key Insights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611880" cy="1188720"/>
          </a:xfrm>
          <a:prstGeom prst="roundRect">
            <a:avLst>
              <a:gd name="adj" fmla="val 6154"/>
            </a:avLst>
          </a:prstGeom>
          <a:solidFill>
            <a:srgbClr val="F5F5F5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81328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32.4%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1762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Sentiment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51960" y="1371600"/>
            <a:ext cx="3611880" cy="1188720"/>
          </a:xfrm>
          <a:prstGeom prst="roundRect">
            <a:avLst>
              <a:gd name="adj" fmla="val 6154"/>
            </a:avLst>
          </a:prstGeom>
          <a:solidFill>
            <a:srgbClr val="F5F5F5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51960" y="1481328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3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32.8%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343400" y="21762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Sentiment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46720" y="1371600"/>
            <a:ext cx="3611880" cy="1188720"/>
          </a:xfrm>
          <a:prstGeom prst="roundRect">
            <a:avLst>
              <a:gd name="adj" fmla="val 6154"/>
            </a:avLst>
          </a:prstGeom>
          <a:solidFill>
            <a:srgbClr val="F5F5F5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0" y="1481328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34.8%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138160" y="21762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Sentiment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880360"/>
            <a:ext cx="11247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is almost evenly split three ways (Neutral 34.8%, Negative 32.8%, Positive 32.4%) — a large ambivalent middle rather than a strongly loyal customer base.</a:t>
            </a:r>
            <a:endParaRPr lang="en-US" sz="135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feedback rate is nearly uniform across categories: Delivery (21.9%), App Experience (21.8%), Product Quality (21.5%), Customer Service (21.1%) — there is no single dominant pain point; dissatisfaction is broad-based.</a:t>
            </a:r>
            <a:endParaRPr lang="en-US" sz="135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with the Customer page finding, this suggests satisfaction is shaped by a mix of app, product, and service factors together — not delivery timing alone.</a:t>
            </a:r>
            <a:endParaRPr lang="en-US" sz="1350" dirty="0"/>
          </a:p>
        </p:txBody>
      </p:sp>
      <p:pic>
        <p:nvPicPr>
          <p:cNvPr id="15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55080"/>
            <a:ext cx="292608" cy="29260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3152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Analytics  |  Unofficial Portfolio Project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3856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457200"/>
          </a:xfrm>
          <a:prstGeom prst="ellipse">
            <a:avLst/>
          </a:prstGeom>
          <a:solidFill>
            <a:srgbClr val="F8CB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411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&amp; Data Notes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57300"/>
            <a:ext cx="11247120" cy="1417320"/>
          </a:xfrm>
          <a:prstGeom prst="roundRect">
            <a:avLst>
              <a:gd name="adj" fmla="val 3871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645920"/>
            <a:ext cx="274320" cy="27432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600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Flag Inconsistency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43000" y="19659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45% of orders marked “On Time” in delivery_status are also flagged as late (Late_Delivery_Flag = 1). The two fields use different logic — worth reconciling before either drives an operational decision.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857500"/>
            <a:ext cx="11247120" cy="1417320"/>
          </a:xfrm>
          <a:prstGeom prst="roundRect">
            <a:avLst>
              <a:gd name="adj" fmla="val 3871"/>
            </a:avLst>
          </a:prstGeom>
          <a:solidFill>
            <a:srgbClr val="F5F5F5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3246120"/>
            <a:ext cx="274320" cy="274320"/>
          </a:xfrm>
          <a:prstGeom prst="ellipse">
            <a:avLst/>
          </a:prstGeom>
          <a:solidFill>
            <a:srgbClr val="54B226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2004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Timing ≠ Satisfaction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43000" y="35661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 barely moves between on-time and significantly delayed orders (3.33 vs 3.33). Delivery speed is not the main satisfaction lever here — app, product, and service experience matter more.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457700"/>
            <a:ext cx="11247120" cy="1417320"/>
          </a:xfrm>
          <a:prstGeom prst="roundRect">
            <a:avLst>
              <a:gd name="adj" fmla="val 3871"/>
            </a:avLst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4846320"/>
            <a:ext cx="274320" cy="274320"/>
          </a:xfrm>
          <a:prstGeom prst="ellipse">
            <a:avLst/>
          </a:prstGeom>
          <a:solidFill>
            <a:srgbClr val="F8CB45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48006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Balanced, Not Polarized, Sentiment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143000" y="51663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splits almost evenly across positive, neutral, and negative. The business has more ambivalent customers than strongly loyal ones — an activation opportunity.</a:t>
            </a:r>
            <a:endParaRPr lang="en-US" sz="1150" dirty="0"/>
          </a:p>
        </p:txBody>
      </p:sp>
      <p:pic>
        <p:nvPicPr>
          <p:cNvPr id="17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55080"/>
            <a:ext cx="292608" cy="29260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3152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Analytics  |  Unofficial Portfolio Project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33856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457200"/>
          </a:xfrm>
          <a:prstGeom prst="ellipse">
            <a:avLst/>
          </a:prstGeom>
          <a:solidFill>
            <a:srgbClr val="F8CB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411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delivery_status and Late_Delivery_Flag definitions so operations reporting is trustworthy before acting on either metric.</a:t>
            </a:r>
            <a:endParaRPr lang="en-US" sz="135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app and product-experience drivers of dissatisfaction directly — delivery timing alone does not explain the rating spread.</a:t>
            </a:r>
            <a:endParaRPr lang="en-US" sz="135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retention programs for the Regular segment — it drives the highest total revenue despite not being the largest or most premium group.</a:t>
            </a:r>
            <a:endParaRPr lang="en-US" sz="135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incremental marketing budget toward Email and SMS, the highest-ROAS channels, while continuing to test Social Media and App at current spend.</a:t>
            </a:r>
            <a:endParaRPr lang="en-US" sz="135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and expand assortment in Dairy &amp; Breakfast and Pharmacy — the two highest-revenue categories in the catalog.</a:t>
            </a:r>
            <a:endParaRPr lang="en-US" sz="135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large Neutral sentiment segment (34.8%) into Positive through targeted service or loyalty touchpoints — this is the biggest single sentiment-conversion opportunity.</a:t>
            </a:r>
            <a:endParaRPr lang="en-US" sz="1350" dirty="0"/>
          </a:p>
        </p:txBody>
      </p:sp>
      <p:pic>
        <p:nvPicPr>
          <p:cNvPr id="6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5508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Analytics  |  Unofficial Portfolio Project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457200"/>
          </a:xfrm>
          <a:prstGeom prst="ellipse">
            <a:avLst/>
          </a:prstGeom>
          <a:solidFill>
            <a:srgbClr val="F8CB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411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Demonstrated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685032" cy="1737360"/>
          </a:xfrm>
          <a:prstGeom prst="roundRect">
            <a:avLst>
              <a:gd name="adj" fmla="val 3158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17320"/>
            <a:ext cx="73152" cy="1737360"/>
          </a:xfrm>
          <a:prstGeom prst="rect">
            <a:avLst/>
          </a:prstGeom>
          <a:solidFill>
            <a:srgbClr val="54B22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81912"/>
            <a:ext cx="3227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Feature Engineering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flags, CLV, discount %, order-size tiers, and sentiment fields built from raw transactional data.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79392" y="1417320"/>
            <a:ext cx="3685032" cy="1737360"/>
          </a:xfrm>
          <a:prstGeom prst="roundRect">
            <a:avLst>
              <a:gd name="adj" fmla="val 3158"/>
            </a:avLst>
          </a:prstGeom>
          <a:solidFill>
            <a:srgbClr val="F5F5F5"/>
          </a:solidFill>
          <a:ln/>
        </p:spPr>
      </p:sp>
      <p:sp>
        <p:nvSpPr>
          <p:cNvPr id="10" name="Shape 8"/>
          <p:cNvSpPr/>
          <p:nvPr/>
        </p:nvSpPr>
        <p:spPr>
          <a:xfrm>
            <a:off x="4279392" y="1417320"/>
            <a:ext cx="73152" cy="1737360"/>
          </a:xfrm>
          <a:prstGeom prst="rect">
            <a:avLst/>
          </a:prstGeom>
          <a:solidFill>
            <a:srgbClr val="54B226"/>
          </a:solidFill>
          <a:ln/>
        </p:spPr>
      </p:sp>
      <p:sp>
        <p:nvSpPr>
          <p:cNvPr id="11" name="Text 9"/>
          <p:cNvSpPr/>
          <p:nvPr/>
        </p:nvSpPr>
        <p:spPr>
          <a:xfrm>
            <a:off x="4553712" y="1581912"/>
            <a:ext cx="3227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Data Modeling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53712" y="2103120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Star-schema relationships and a centralized DAX measures table driving every visual.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01584" y="1417320"/>
            <a:ext cx="3685032" cy="1737360"/>
          </a:xfrm>
          <a:prstGeom prst="roundRect">
            <a:avLst>
              <a:gd name="adj" fmla="val 3158"/>
            </a:avLst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8101584" y="1417320"/>
            <a:ext cx="73152" cy="1737360"/>
          </a:xfrm>
          <a:prstGeom prst="rect">
            <a:avLst/>
          </a:prstGeom>
          <a:solidFill>
            <a:srgbClr val="54B226"/>
          </a:solidFill>
          <a:ln/>
        </p:spPr>
      </p:sp>
      <p:sp>
        <p:nvSpPr>
          <p:cNvPr id="15" name="Text 13"/>
          <p:cNvSpPr/>
          <p:nvPr/>
        </p:nvSpPr>
        <p:spPr>
          <a:xfrm>
            <a:off x="8375904" y="1581912"/>
            <a:ext cx="3227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UX Design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75904" y="2103120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purpose-built pages, iteratively refined page by page rather than built once and left unreviewed.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37560"/>
            <a:ext cx="3685032" cy="1737360"/>
          </a:xfrm>
          <a:prstGeom prst="roundRect">
            <a:avLst>
              <a:gd name="adj" fmla="val 3158"/>
            </a:avLst>
          </a:prstGeom>
          <a:solidFill>
            <a:srgbClr val="F5F5F5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337560"/>
            <a:ext cx="73152" cy="1737360"/>
          </a:xfrm>
          <a:prstGeom prst="rect">
            <a:avLst/>
          </a:prstGeom>
          <a:solidFill>
            <a:srgbClr val="54B226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502152"/>
            <a:ext cx="3227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Brand-Aligned Visual Design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4023360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Blinkit color theme, typography system, and logo integration applied consistently report-wide.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79392" y="3337560"/>
            <a:ext cx="3685032" cy="1737360"/>
          </a:xfrm>
          <a:prstGeom prst="roundRect">
            <a:avLst>
              <a:gd name="adj" fmla="val 3158"/>
            </a:avLst>
          </a:prstGeom>
          <a:solidFill>
            <a:srgbClr val="F5F5F5"/>
          </a:solidFill>
          <a:ln/>
        </p:spPr>
      </p:sp>
      <p:sp>
        <p:nvSpPr>
          <p:cNvPr id="22" name="Shape 20"/>
          <p:cNvSpPr/>
          <p:nvPr/>
        </p:nvSpPr>
        <p:spPr>
          <a:xfrm>
            <a:off x="4279392" y="3337560"/>
            <a:ext cx="73152" cy="1737360"/>
          </a:xfrm>
          <a:prstGeom prst="rect">
            <a:avLst/>
          </a:prstGeom>
          <a:solidFill>
            <a:srgbClr val="54B226"/>
          </a:solidFill>
          <a:ln/>
        </p:spPr>
      </p:sp>
      <p:sp>
        <p:nvSpPr>
          <p:cNvPr id="23" name="Text 21"/>
          <p:cNvSpPr/>
          <p:nvPr/>
        </p:nvSpPr>
        <p:spPr>
          <a:xfrm>
            <a:off x="4553712" y="3502152"/>
            <a:ext cx="3227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Storytelling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53712" y="4023360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chart tied back to a specific, decision-relevant insight rather than a generic summary metric.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01584" y="3337560"/>
            <a:ext cx="3685032" cy="1737360"/>
          </a:xfrm>
          <a:prstGeom prst="roundRect">
            <a:avLst>
              <a:gd name="adj" fmla="val 3158"/>
            </a:avLst>
          </a:prstGeom>
          <a:solidFill>
            <a:srgbClr val="F5F5F5"/>
          </a:solidFill>
          <a:ln/>
        </p:spPr>
      </p:sp>
      <p:sp>
        <p:nvSpPr>
          <p:cNvPr id="26" name="Shape 24"/>
          <p:cNvSpPr/>
          <p:nvPr/>
        </p:nvSpPr>
        <p:spPr>
          <a:xfrm>
            <a:off x="8101584" y="3337560"/>
            <a:ext cx="73152" cy="1737360"/>
          </a:xfrm>
          <a:prstGeom prst="rect">
            <a:avLst/>
          </a:prstGeom>
          <a:solidFill>
            <a:srgbClr val="54B226"/>
          </a:solidFill>
          <a:ln/>
        </p:spPr>
      </p:sp>
      <p:sp>
        <p:nvSpPr>
          <p:cNvPr id="27" name="Text 25"/>
          <p:cNvSpPr/>
          <p:nvPr/>
        </p:nvSpPr>
        <p:spPr>
          <a:xfrm>
            <a:off x="8375904" y="3502152"/>
            <a:ext cx="3227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Analytical Rigor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75904" y="4023360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and reported a real data-quality inconsistency instead of glossing over it.</a:t>
            </a:r>
            <a:endParaRPr lang="en-US" sz="1100" dirty="0"/>
          </a:p>
        </p:txBody>
      </p:sp>
      <p:pic>
        <p:nvPicPr>
          <p:cNvPr id="29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55080"/>
            <a:ext cx="292608" cy="292608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73152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Analytics  |  Unofficial Portfolio Project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33856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408528"/>
            <a:ext cx="1280160" cy="1280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910254"/>
            <a:ext cx="12161520" cy="1067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8C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0" y="352044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0" y="4079630"/>
            <a:ext cx="12161520" cy="8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Sriram  |  </a:t>
            </a:r>
            <a:r>
              <a:rPr lang="en-US" sz="1200" dirty="0" smtClean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</a:t>
            </a: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1468</Words>
  <Application>Microsoft Office PowerPoint</Application>
  <PresentationFormat>Custom</PresentationFormat>
  <Paragraphs>202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11</cp:revision>
  <dcterms:created xsi:type="dcterms:W3CDTF">2026-07-28T04:11:46Z</dcterms:created>
  <dcterms:modified xsi:type="dcterms:W3CDTF">2026-07-30T14:40:41Z</dcterms:modified>
</cp:coreProperties>
</file>